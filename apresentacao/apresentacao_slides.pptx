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828800"/>
            <a:ext cx="6400800" cy="6400800"/>
          </a:xfrm>
          <a:prstGeom prst="ellipse">
            <a:avLst/>
          </a:prstGeom>
          <a:solidFill>
            <a:srgbClr val="B8504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A7BEAE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Gastos Públicos 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Desenvolvimento Municipal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análise da equidade fiscal entre os municípios brasileiros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 IDH, da arrecadação própria e do investimento público.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120640"/>
            <a:ext cx="18288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9496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Luís Henrique Sampaio Lopes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luis.hl@sempreceub.com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Sócrates Trevisan Silva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socrates.trevisan@sempreceub.com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Problema de Negócio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1206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Brasil tem mais de 5.500 municípios com realidades muito diferentes. Capitais e grandes centros concentram arrecadação própria e investimento, enquanto municípios do interior — sobretudo no Norte e Nordeste — dependem quase só de transferências federais e estaduais.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dataset Brazilian Cities reúne 79 atributos socioeconômicos de todos os municípios brasileiros: IDH, PIB, arrecadação, gastos públicos por setor — com origem em IBGE, IPEA e FINBRA.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4754880"/>
            <a:ext cx="411480" cy="41148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754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4800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socioeconômicos por município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89320" y="1234440"/>
            <a:ext cx="5532120" cy="4846320"/>
          </a:xfrm>
          <a:prstGeom prst="roundRect">
            <a:avLst>
              <a:gd name="adj" fmla="val 1509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508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CENTRAL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19202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com menor IDH e menor arrecadação própria recebem gastos públicos per capita proporcionais às suas necessidades?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309360" y="3977640"/>
            <a:ext cx="1188720" cy="0"/>
          </a:xfrm>
          <a:prstGeom prst="line">
            <a:avLst/>
          </a:prstGeom>
          <a:noFill/>
          <a:ln w="19050">
            <a:solidFill>
              <a:srgbClr val="E7E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42062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a desigualdade fiscal aprofunda as disparidades socioeconômicas já existentes entre as regiões do país?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 e Hipóteses Iniciais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CONSOME O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20040" cy="32004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4904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Gestores Federais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 a distribuição de recursos entre municípios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320040" cy="32004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1762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Secretarias Estaduais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comparam municípios do próprio estado entre si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320040" cy="32004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8620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Pesquisadores Sociais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exploram correlações entre arrecadação e qualidade de vida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320040" cy="32004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5478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Sociedade e Jornalistas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verificam a transparência da alocação de recursos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9320" y="1234440"/>
            <a:ext cx="0" cy="4846320"/>
          </a:xfrm>
          <a:prstGeom prst="line">
            <a:avLst/>
          </a:prstGeom>
          <a:noFill/>
          <a:ln w="19050">
            <a:solidFill>
              <a:srgbClr val="E7E8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143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HIPÓTESES A TESTAR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12280" y="150876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com IDH baixo concentram-se no Norte/Nordeste e têm menor arrecadação própria per capita.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6060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25603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pequenos tendem a gastar mais por habitante, mas com menor eficiência.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6576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12280" y="361188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PIB per capita não implica necessariamente maior IDH.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47091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B85042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12280" y="466344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Sudeste e Sul concentram a maior parte do PIB municipal, ampliando a dependência fiscal nas regiões mais pobres.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Propostos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indicadores cobrindo gasto, desenvolvimento humano e capacidade fiscal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121408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2880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33172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Gasto Per Capita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" y="3108960"/>
            <a:ext cx="1792224" cy="0"/>
          </a:xfrm>
          <a:prstGeom prst="line">
            <a:avLst/>
          </a:prstGeom>
          <a:noFill/>
          <a:ln w="12700">
            <a:solidFill>
              <a:srgbClr val="E7E8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324612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Total ÷ População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521208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/ habitante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1600200"/>
            <a:ext cx="2121408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90672" y="1828800"/>
            <a:ext cx="365760" cy="36576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3" name="Text 11"/>
          <p:cNvSpPr/>
          <p:nvPr/>
        </p:nvSpPr>
        <p:spPr>
          <a:xfrm>
            <a:off x="309067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90672" y="233172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IDH Médio por Região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090672" y="3108960"/>
            <a:ext cx="1792224" cy="0"/>
          </a:xfrm>
          <a:prstGeom prst="line">
            <a:avLst/>
          </a:prstGeom>
          <a:noFill/>
          <a:ln w="12700">
            <a:solidFill>
              <a:srgbClr val="E7E8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0672" y="324612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do IDHM por região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90672" y="521208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0–1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12080" y="1600200"/>
            <a:ext cx="2121408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76672" y="182880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537667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76672" y="233172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Arrecadação Per Capita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76672" y="3108960"/>
            <a:ext cx="1792224" cy="0"/>
          </a:xfrm>
          <a:prstGeom prst="line">
            <a:avLst/>
          </a:prstGeom>
          <a:noFill/>
          <a:ln w="12700">
            <a:solidFill>
              <a:srgbClr val="E7E8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76672" y="324612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Arrecadação Própria ÷ População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76672" y="521208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/ habitante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98080" y="1600200"/>
            <a:ext cx="2121408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62672" y="1828800"/>
            <a:ext cx="365760" cy="36576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27" name="Text 25"/>
          <p:cNvSpPr/>
          <p:nvPr/>
        </p:nvSpPr>
        <p:spPr>
          <a:xfrm>
            <a:off x="766267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62672" y="233172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Gasto em Serviços Públicos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62672" y="3108960"/>
            <a:ext cx="1792224" cy="0"/>
          </a:xfrm>
          <a:prstGeom prst="line">
            <a:avLst/>
          </a:prstGeom>
          <a:noFill/>
          <a:ln w="12700">
            <a:solidFill>
              <a:srgbClr val="E7E8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62672" y="324612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GVA Público ÷ GVA Total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62672" y="521208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do gasto total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784080" y="1600200"/>
            <a:ext cx="2121408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948672" y="182880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4" name="Text 32"/>
          <p:cNvSpPr/>
          <p:nvPr/>
        </p:nvSpPr>
        <p:spPr>
          <a:xfrm>
            <a:off x="994867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948672" y="233172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PIB Per Capita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948672" y="3108960"/>
            <a:ext cx="1792224" cy="0"/>
          </a:xfrm>
          <a:prstGeom prst="line">
            <a:avLst/>
          </a:prstGeom>
          <a:noFill/>
          <a:ln w="12700">
            <a:solidFill>
              <a:srgbClr val="E7E8D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48672" y="324612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Municipal ÷ População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948672" y="521208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/ habitante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OKRs do Projeto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257800" cy="5029200"/>
          </a:xfrm>
          <a:prstGeom prst="roundRect">
            <a:avLst>
              <a:gd name="adj" fmla="val 1455"/>
            </a:avLst>
          </a:prstGeom>
          <a:solidFill>
            <a:srgbClr val="3A363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6012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73736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Mapear a desigualdade fiscal entre municípios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0120" y="2971800"/>
            <a:ext cx="4617720" cy="0"/>
          </a:xfrm>
          <a:prstGeom prst="line">
            <a:avLst/>
          </a:prstGeom>
          <a:noFill/>
          <a:ln w="12700">
            <a:solidFill>
              <a:srgbClr val="55504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3200400"/>
            <a:ext cx="109728" cy="109728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07008" y="308152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os 20 municípios com menor gasto per capita e cruzar com IDHM.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60120" y="4069080"/>
            <a:ext cx="109728" cy="109728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07008" y="395020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Demonstrar que ao menos 3 regiões têm IDH médio abaixo de 0,70.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60120" y="4937760"/>
            <a:ext cx="109728" cy="109728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07008" y="481888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municípios com arrecadação per capita abaixo de R$ 200/hab por estado.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188720"/>
            <a:ext cx="5257800" cy="5029200"/>
          </a:xfrm>
          <a:prstGeom prst="roundRect">
            <a:avLst>
              <a:gd name="adj" fmla="val 1455"/>
            </a:avLst>
          </a:prstGeom>
          <a:solidFill>
            <a:srgbClr val="3A363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8368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173736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Evidenciar a relação entre investimento e IDH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0" y="2971800"/>
            <a:ext cx="4617720" cy="0"/>
          </a:xfrm>
          <a:prstGeom prst="line">
            <a:avLst/>
          </a:prstGeom>
          <a:noFill/>
          <a:ln w="12700">
            <a:solidFill>
              <a:srgbClr val="55504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583680" y="3200400"/>
            <a:ext cx="109728" cy="109728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30568" y="308152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dispersão IDH × Gasto Per Capita e identificar outliers.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30568" y="395020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se municípios com IDH &lt; 0,60 destinam menos de 40% do gasto a serviços públicos.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4937760"/>
            <a:ext cx="109728" cy="109728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com 1 fato e 4 dimensões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0" y="2651760"/>
            <a:ext cx="3017520" cy="1828800"/>
          </a:xfrm>
          <a:prstGeom prst="roundRect">
            <a:avLst>
              <a:gd name="adj" fmla="val 4000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0" y="2788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Fato_Municipio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32004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Gasto_Total · Arrecadacao_Propria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PIB_Total · IDHM · Populacao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Gasto_Per_Capita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4572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A7BEA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548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Dim_Calendario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983480" y="822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· Fonte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(IBGE/FINBRA/IPEA)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412480" y="2651760"/>
            <a:ext cx="2468880" cy="1828800"/>
          </a:xfrm>
          <a:prstGeom prst="roundRect">
            <a:avLst>
              <a:gd name="adj" fmla="val 3000"/>
            </a:avLst>
          </a:prstGeom>
          <a:solidFill>
            <a:srgbClr val="A7BEA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49640" y="2743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Dim_Faixa_IDH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549640" y="30175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Faixa_IDH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(Muito Baixo a Muito Alto)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Limite_Inf · Limite_Sup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51206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A7BEA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5212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Dim_Porte_Populacional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83480" y="54864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Faixa_Porte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(Pequeno I a Grande)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2651760"/>
            <a:ext cx="2468880" cy="1828800"/>
          </a:xfrm>
          <a:prstGeom prst="roundRect">
            <a:avLst>
              <a:gd name="adj" fmla="val 3000"/>
            </a:avLst>
          </a:prstGeom>
          <a:solidFill>
            <a:srgbClr val="A7BEA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2743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Dim_Estado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" y="30175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· Nome_Estado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Regiao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0760" y="1828800"/>
            <a:ext cx="0" cy="822960"/>
          </a:xfrm>
          <a:prstGeom prst="line">
            <a:avLst/>
          </a:prstGeom>
          <a:noFill/>
          <a:ln w="19050">
            <a:solidFill>
              <a:srgbClr val="2C2A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0" y="3291840"/>
            <a:ext cx="822960" cy="0"/>
          </a:xfrm>
          <a:prstGeom prst="line">
            <a:avLst/>
          </a:prstGeom>
          <a:noFill/>
          <a:ln w="19050">
            <a:solidFill>
              <a:srgbClr val="2C2A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4480560"/>
            <a:ext cx="0" cy="640080"/>
          </a:xfrm>
          <a:prstGeom prst="line">
            <a:avLst/>
          </a:prstGeom>
          <a:noFill/>
          <a:ln w="19050">
            <a:solidFill>
              <a:srgbClr val="2C2A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3291840"/>
            <a:ext cx="1188720" cy="0"/>
          </a:xfrm>
          <a:prstGeom prst="line">
            <a:avLst/>
          </a:prstGeom>
          <a:noFill/>
          <a:ln w="19050">
            <a:solidFill>
              <a:srgbClr val="2C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4008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Granularidade: 1 linha = 1 município  ·  Relacionamentos 1:N, filtro Dimensão → Fato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de Modelagem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0020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virou fato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2240280" cy="0"/>
          </a:xfrm>
          <a:prstGeom prst="line">
            <a:avLst/>
          </a:prstGeom>
          <a:noFill/>
          <a:ln w="12700">
            <a:solidFill>
              <a:srgbClr val="D98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06040"/>
            <a:ext cx="2240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numéricas e aditivas (gasto, arrecadação, PIB, IDH) que só fazem sentido junto às dimensões.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55848" y="137160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A7BEA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38728" y="160020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virou dimensão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38728" y="2423160"/>
            <a:ext cx="2240280" cy="0"/>
          </a:xfrm>
          <a:prstGeom prst="line">
            <a:avLst/>
          </a:prstGeom>
          <a:noFill/>
          <a:ln w="12700">
            <a:solidFill>
              <a:srgbClr val="8FAC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728" y="2606040"/>
            <a:ext cx="2240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Estado/Região, Porte Populacional e Faixa de IDH — todas usadas para segmentar e filtrar a análise.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71616" y="137160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54496" y="160020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Surrogate keys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54496" y="2423160"/>
            <a:ext cx="2240280" cy="0"/>
          </a:xfrm>
          <a:prstGeom prst="line">
            <a:avLst/>
          </a:prstGeom>
          <a:noFill/>
          <a:ln w="12700">
            <a:solidFill>
              <a:srgbClr val="D98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2606040"/>
            <a:ext cx="2240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Geradas via índice no Power Query; códigos IBGE mantidos na fato apenas como referência.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87384" y="137160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A7BEA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70264" y="160020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Desnormalizações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70264" y="2423160"/>
            <a:ext cx="2240280" cy="0"/>
          </a:xfrm>
          <a:prstGeom prst="line">
            <a:avLst/>
          </a:prstGeom>
          <a:noFill/>
          <a:ln w="12700">
            <a:solidFill>
              <a:srgbClr val="8FAC9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70264" y="2606040"/>
            <a:ext cx="2240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Faixa_IDH e Faixa_Porte calculadas na fato e replicadas como dimensões via referência.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e Medidas DAX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1206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 de colunas numéricas e remoção de nulos críticos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Renomeação para padrão Title Case em português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calculadas: Gasto_Per_Capita, PIB_Per_Capita, Arrecadacao_Per_Capita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condicional Faixa_IDH (5 faixas, classificação PNUD)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condicional Faixa_Porte (4 faixas, classificação IBGE)</a:t>
            </a:r>
            <a:endParaRPr lang="en-US" sz="12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 criadas por referência e via código 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89320" y="1234440"/>
            <a:ext cx="5532120" cy="4846320"/>
          </a:xfrm>
          <a:prstGeom prst="roundRect">
            <a:avLst>
              <a:gd name="adj" fmla="val 1509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09360" y="1463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MEDIDAS DAX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18745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básicas — Total Municípios, Gasto Total, IDH Médio...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comparação — % Abaixo da Média, Variação vs Nacional...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 CALCULATE — Gasto Per Capita IDH Baixo, Ranking por Estado...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3520440"/>
            <a:ext cx="4846320" cy="0"/>
          </a:xfrm>
          <a:prstGeom prst="line">
            <a:avLst/>
          </a:prstGeom>
          <a:noFill/>
          <a:ln w="12700">
            <a:solidFill>
              <a:srgbClr val="D98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4023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Gasto Per Capita IDH Baixo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44348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 AVERAGE(Gasto_Per_Capita),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Faixa_IDH IN {"Muito Baixo","Baixo"} 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Row-Level Security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perfis simulando usuários reais do negócio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3A363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Gestor Regional (por Região)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108960"/>
            <a:ext cx="3017520" cy="502920"/>
          </a:xfrm>
          <a:prstGeom prst="roundRect">
            <a:avLst>
              <a:gd name="adj" fmla="val 9091"/>
            </a:avLst>
          </a:prstGeom>
          <a:solidFill>
            <a:srgbClr val="2C2A2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3108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[Regiao] = "Nordeste" / "Norte" / "Sul" / "Sudeste" / "Centro-Oeste"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7947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Foram criados 5 roles, um para cada região, restringindo o acesso apenas aos municípios da respectiva região.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55448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3A3631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63440" y="178308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634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3774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Analista de Desenvolvimento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3108960"/>
            <a:ext cx="3017520" cy="502920"/>
          </a:xfrm>
          <a:prstGeom prst="roundRect">
            <a:avLst>
              <a:gd name="adj" fmla="val 9091"/>
            </a:avLst>
          </a:prstGeom>
          <a:solidFill>
            <a:srgbClr val="2C2A2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663440" y="3108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[IDHM] &lt; 0.6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63440" y="37947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todas as regiões, mas apenas municípios com IDH crítico.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155448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3A3631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412480" y="178308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4124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23774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Diretor Nacional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412480" y="3108960"/>
            <a:ext cx="3017520" cy="502920"/>
          </a:xfrm>
          <a:prstGeom prst="roundRect">
            <a:avLst>
              <a:gd name="adj" fmla="val 9091"/>
            </a:avLst>
          </a:prstGeom>
          <a:solidFill>
            <a:srgbClr val="2C2A26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412480" y="3108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BE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(sem filtro)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12480" y="37947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irrestrito a todos os municípios e indicadores.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do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páginas com propósitos distintos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Nacional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3017520" cy="0"/>
          </a:xfrm>
          <a:prstGeom prst="line">
            <a:avLst/>
          </a:prstGeom>
          <a:noFill/>
          <a:ln w="12700">
            <a:solidFill>
              <a:srgbClr val="E7E8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0040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cartões de KPI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IDH por estado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Dispersão IDH × Gasto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6916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663440" y="2423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de Equidade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3017520"/>
            <a:ext cx="3017520" cy="0"/>
          </a:xfrm>
          <a:prstGeom prst="line">
            <a:avLst/>
          </a:prstGeom>
          <a:noFill/>
          <a:ln w="12700">
            <a:solidFill>
              <a:srgbClr val="E7E8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20040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por Faixa de IDH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Gasto em Serviços Públicos por Faixa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municípios críticos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0" y="16916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412480" y="2423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Drill-Down por Estado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12480" y="3017520"/>
            <a:ext cx="3017520" cy="0"/>
          </a:xfrm>
          <a:prstGeom prst="line">
            <a:avLst/>
          </a:prstGeom>
          <a:noFill/>
          <a:ln w="12700">
            <a:solidFill>
              <a:srgbClr val="E7E8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320040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estados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Faixa de IDH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detalhada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B85042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423160"/>
            <a:ext cx="137160" cy="13716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2860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dimensional permite cruzar IDH, porte e capacidade fiscal de forma flexível e auditável.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137160" cy="13716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31546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dashboard evidencia, com dados reais, se o investimento público acompanha a necessidade dos municípios.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137160" cy="13716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40233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RLS simula com fidelidade como diferentes gestores enxergam o mesmo problema a partir de perspectivas distintas.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5394960"/>
            <a:ext cx="18288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5778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Brazilian Cities BI</dc:title>
  <dc:subject>PptxGenJS Presentation</dc:subject>
  <dc:creator>Luis Henrique Sampaio Lopes, Socrates Trevisan Silva</dc:creator>
  <cp:lastModifiedBy>Luis Henrique Sampaio Lopes, Socrates Trevisan Silva</cp:lastModifiedBy>
  <cp:revision>1</cp:revision>
  <dcterms:created xsi:type="dcterms:W3CDTF">2026-06-20T12:42:08Z</dcterms:created>
  <dcterms:modified xsi:type="dcterms:W3CDTF">2026-06-20T12:42:08Z</dcterms:modified>
</cp:coreProperties>
</file>